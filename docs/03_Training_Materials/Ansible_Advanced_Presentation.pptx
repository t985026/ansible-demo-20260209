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753747" y="1298377"/>
            <a:ext cx="5636356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948"/>
              </a:spcBef>
              <a:spcAft>
                <a:spcPts val="2000"/>
              </a:spcAft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 進階功能教學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720304" y="2600027"/>
            <a:ext cx="581730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Templates, Handlers, Task Control &amp; More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084016" y="3562052"/>
            <a:ext cx="3035487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Cathay DevOps Team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19125"/>
            <a:ext cx="8549640" cy="53012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876"/>
              </a:spcBef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課程大綱 (Agenda)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1000" y="1158776"/>
            <a:ext cx="83820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676102"/>
            <a:ext cx="8382000" cy="253975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Templates (Jinja2) - 動態配置檔案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Handlers - 服務重啟與事件觸發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Task Control - 流程控制與錯誤處理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Deploying Files - 檔案部署策略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Troubleshooting - 故障排除技巧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19125"/>
            <a:ext cx="8549640" cy="47297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876"/>
              </a:spcBef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Templates (Jinja2)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1000" y="1101626"/>
            <a:ext cx="83820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301651"/>
            <a:ext cx="4140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功能與用途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1000" y="1733401"/>
            <a:ext cx="4059734" cy="9188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使用變數動態生成配置檔案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支援條件判斷 (if/else) 與迴圈 (loops)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自動替換主機相關資訊 (Facts)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81000" y="2855416"/>
            <a:ext cx="414092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常用標籤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1000" y="3287167"/>
            <a:ext cx="4059734" cy="918865"/>
          </a:xfrm>
          <a:prstGeom prst="rect">
            <a:avLst/>
          </a:prstGeom>
          <a:noFill/>
          <a:ln/>
        </p:spPr>
        <p:txBody>
          <a:bodyPr wrap="square" lIns="127000" tIns="0" rIns="0" bIns="0" rtlCol="0" anchor="t"/>
          <a:lstStyle/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變數: {{ var }}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控制: {% if ... %}</a:t>
            </a:r>
            <a:endParaRPr lang="en-US" sz="1600" dirty="0"/>
          </a:p>
          <a:p>
            <a:pPr algn="l" marL="127000" indent="-127000">
              <a:lnSpc>
                <a:spcPts val="2080"/>
              </a:lnSpc>
              <a:spcAft>
                <a:spcPts val="5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過濾器: var | default('val')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94634" y="1301651"/>
            <a:ext cx="4068366" cy="3107531"/>
          </a:xfrm>
          <a:prstGeom prst="roundRect">
            <a:avLst>
              <a:gd name="adj" fmla="val 3269"/>
            </a:avLst>
          </a:prstGeom>
          <a:solidFill>
            <a:srgbClr val="F5F5F5"/>
          </a:solidFill>
          <a:ln w="9525">
            <a:solidFill>
              <a:srgbClr val="DDDDDD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831110" y="1438126"/>
            <a:ext cx="3871323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範例 (nginx.conf.j2)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831110" y="1869877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 {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31110" y="2083296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 {{ http_port }};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31110" y="2296716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server_name {{ server_name }};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31110" y="2510135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if enable_ssl %}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31110" y="2723555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listen 443 ssl;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31110" y="2936974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{% endif %}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31110" y="3150394"/>
            <a:ext cx="3871323" cy="21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19125"/>
            <a:ext cx="8549640" cy="47297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876"/>
              </a:spcBef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Handlers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1000" y="1101626"/>
            <a:ext cx="83820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555552"/>
            <a:ext cx="8382000" cy="1828205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定義 (Definition):</a:t>
            </a:r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特殊的 Task，通常用於重啟服務。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觸發條件 (Trigger):</a:t>
            </a:r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只有當被通知的 Task 狀態為 "Changed" 時執行。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執行時機 (Execution):</a:t>
            </a:r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預設在所有 Play 完成後執行。</a:t>
            </a:r>
            <a:endParaRPr lang="en-US" sz="2000" dirty="0"/>
          </a:p>
          <a:p>
            <a:pPr algn="l" marL="190500" indent="-190500">
              <a:lnSpc>
                <a:spcPts val="2800"/>
              </a:lnSpc>
              <a:spcAft>
                <a:spcPts val="800"/>
              </a:spcAft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特性 (Feature):</a:t>
            </a:r>
            <a:pPr algn="l" indent="0" marL="0">
              <a:lnSpc>
                <a:spcPts val="28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多次通知，僅執行一次 (Idempotent)。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81000" y="3828157"/>
            <a:ext cx="8382000" cy="530126"/>
          </a:xfrm>
          <a:prstGeom prst="rect">
            <a:avLst/>
          </a:prstGeom>
          <a:solidFill>
            <a:srgbClr val="FFF3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04813" y="3828157"/>
            <a:ext cx="0" cy="530126"/>
          </a:xfrm>
          <a:prstGeom prst="line">
            <a:avLst/>
          </a:prstGeom>
          <a:noFill/>
          <a:ln w="47625">
            <a:solidFill>
              <a:srgbClr val="FFEEB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5575" y="3955107"/>
            <a:ext cx="8242084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Tip:</a:t>
            </a:r>
            <a:pPr algn="l" indent="0" marL="0">
              <a:buNone/>
            </a:pPr>
            <a:r>
              <a:rPr lang="en-US" sz="16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使用 </a:t>
            </a:r>
            <a:pPr algn="l" indent="0" marL="0">
              <a:buNone/>
            </a:pPr>
            <a:r>
              <a:rPr lang="en-US" sz="1600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來觸發 Handler。確保名稱完全一致。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619125"/>
            <a:ext cx="8549640" cy="472976"/>
          </a:xfrm>
          <a:prstGeom prst="rect">
            <a:avLst/>
          </a:prstGeom>
          <a:noFill/>
          <a:ln/>
        </p:spPr>
        <p:txBody>
          <a:bodyPr wrap="square" lIns="0" tIns="0" rIns="0" bIns="63500" rtlCol="0" anchor="t"/>
          <a:lstStyle/>
          <a:p>
            <a:pPr algn="l" indent="0" marL="0">
              <a:spcBef>
                <a:spcPts val="1876"/>
              </a:spcBef>
              <a:buNone/>
            </a:pPr>
            <a:r>
              <a:rPr lang="en-US" sz="28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Implementing Task Control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1000" y="1101626"/>
            <a:ext cx="8382000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1000" y="1301651"/>
            <a:ext cx="4095750" cy="1523554"/>
          </a:xfrm>
          <a:prstGeom prst="roundRect">
            <a:avLst>
              <a:gd name="adj" fmla="val 4168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2925" y="1463576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條件執行 (When)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2925" y="1946077"/>
            <a:ext cx="3847338" cy="717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根據變數或 Facts 決定是否執行任務。</a:t>
            </a: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667250" y="1301651"/>
            <a:ext cx="4095750" cy="1523554"/>
          </a:xfrm>
          <a:prstGeom prst="roundRect">
            <a:avLst>
              <a:gd name="adj" fmla="val 4168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829175" y="1463576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迴圈 (Loops)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29175" y="1946077"/>
            <a:ext cx="3847338" cy="4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重複執行任務，處理列表或字典。</a:t>
            </a: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例如: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81000" y="3015704"/>
            <a:ext cx="4095750" cy="1280517"/>
          </a:xfrm>
          <a:prstGeom prst="roundRect">
            <a:avLst>
              <a:gd name="adj" fmla="val 4959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42925" y="3177629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區塊 (Blocks)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2925" y="3660130"/>
            <a:ext cx="3847338" cy="4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將多個任務分組，統一處理錯誤。</a:t>
            </a: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包含: </a:t>
            </a: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67250" y="3015704"/>
            <a:ext cx="4095750" cy="1280517"/>
          </a:xfrm>
          <a:prstGeom prst="roundRect">
            <a:avLst>
              <a:gd name="adj" fmla="val 4959"/>
            </a:avLst>
          </a:prstGeom>
          <a:solidFill>
            <a:srgbClr val="F8F9FA"/>
          </a:solidFill>
          <a:ln w="9525">
            <a:solidFill>
              <a:srgbClr val="DEE2E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29175" y="3177629"/>
            <a:ext cx="384733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標籤 (Tags)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29175" y="3660130"/>
            <a:ext cx="3847338" cy="474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選擇性執行部分任務。</a:t>
            </a:r>
            <a:endParaRPr lang="en-US" sz="1400" dirty="0"/>
          </a:p>
          <a:p>
            <a:pPr algn="l" indent="0" marL="0">
              <a:lnSpc>
                <a:spcPts val="1820"/>
              </a:lnSpc>
              <a:spcBef>
                <a:spcPts val="1400"/>
              </a:spcBef>
              <a:buNone/>
            </a:pPr>
            <a:r>
              <a:rPr lang="en-US" sz="14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指令: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593675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spcBef>
                <a:spcPts val="2144"/>
              </a:spcBef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Deploying Files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7950" y="1383357"/>
            <a:ext cx="8128099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780157"/>
            <a:ext cx="8290661" cy="593675"/>
          </a:xfrm>
          <a:prstGeom prst="rect">
            <a:avLst/>
          </a:prstGeom>
          <a:noFill/>
          <a:ln/>
        </p:spPr>
        <p:txBody>
          <a:bodyPr wrap="square" lIns="0" tIns="0" rIns="0" bIns="127000" rtlCol="0" anchor="t"/>
          <a:lstStyle/>
          <a:p>
            <a:pPr algn="l" indent="0" marL="0">
              <a:spcBef>
                <a:spcPts val="2144"/>
              </a:spcBef>
              <a:buNone/>
            </a:pPr>
            <a:r>
              <a:rPr lang="en-US" sz="3200" b="1" dirty="0">
                <a:solidFill>
                  <a:srgbClr val="CC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Troubleshooting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07950" y="1383357"/>
            <a:ext cx="8128099" cy="0"/>
          </a:xfrm>
          <a:prstGeom prst="line">
            <a:avLst/>
          </a:prstGeom>
          <a:noFill/>
          <a:ln w="1905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7950" y="1900684"/>
            <a:ext cx="8128099" cy="2059632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Verbose Mode: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使用 </a:t>
            </a:r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-vvv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查看詳細執行過程。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 Module: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使用 </a:t>
            </a:r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模組印出變數值或訊息。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Check: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ansible-playbook --syntax-check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Mode (Dry Run):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pPr algn="l" indent="0" marL="0">
              <a:lnSpc>
                <a:spcPts val="3200"/>
              </a:lnSpc>
              <a:buNone/>
            </a:pPr>
            <a:r>
              <a:rPr lang="en-US" sz="1800" dirty="0">
                <a:solidFill>
                  <a:srgbClr val="D633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ansible-playbook --check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模擬執行。</a:t>
            </a:r>
            <a:endParaRPr lang="en-US" sz="2000" dirty="0"/>
          </a:p>
          <a:p>
            <a:pPr algn="l" marL="190500" indent="-190500">
              <a:lnSpc>
                <a:spcPts val="3200"/>
              </a:lnSpc>
              <a:buSzPct val="100000"/>
              <a:buChar char="•"/>
            </a:pPr>
            <a:r>
              <a:rPr lang="en-US" sz="20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常見錯誤:</a:t>
            </a:r>
            <a:pPr algn="l" indent="0" marL="0">
              <a:lnSpc>
                <a:spcPts val="3200"/>
              </a:lnSpc>
              <a:buNone/>
            </a:pPr>
            <a:r>
              <a:rPr lang="en-US" sz="2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YAML 縮排、權限不足 (become)、連線問題。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33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36628" y="1736229"/>
            <a:ext cx="1704159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216"/>
              </a:spcBef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&amp; A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3682157" y="3050530"/>
            <a:ext cx="1815129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800"/>
              </a:spcBef>
              <a:spcAft>
                <a:spcPts val="2800"/>
              </a:spcAft>
              <a:buNone/>
            </a:pPr>
            <a:r>
              <a:rPr lang="en-US" sz="2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Ansible Advanced Tutorial</dc:title>
  <dc:subject>PptxGenJS Presentation</dc:subject>
  <dc:creator>Cathay DevOps Team</dc:creator>
  <cp:lastModifiedBy>Cathay DevOps Team</cp:lastModifiedBy>
  <cp:revision>1</cp:revision>
  <dcterms:created xsi:type="dcterms:W3CDTF">2026-01-29T09:34:08Z</dcterms:created>
  <dcterms:modified xsi:type="dcterms:W3CDTF">2026-01-29T09:34:08Z</dcterms:modified>
</cp:coreProperties>
</file>