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3747" y="1298377"/>
            <a:ext cx="563635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948"/>
              </a:spcBef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進階功能教學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720304" y="2600027"/>
            <a:ext cx="581730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Templates, Handlers, Task Control &amp;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09231" y="3562052"/>
            <a:ext cx="1964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Team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19125"/>
            <a:ext cx="8549640" cy="530126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Bef>
                <a:spcPts val="1876"/>
              </a:spcBef>
              <a:buNone/>
            </a:pPr>
            <a:r>
              <a:rPr lang="en-US" sz="2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課程大綱 (Agenda)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1000" y="1158776"/>
            <a:ext cx="83820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1000" y="1676102"/>
            <a:ext cx="8382000" cy="253975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8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(Jinja2) - 動態配置檔案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- 服務重啟與事件觸發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Control - 流程控制與錯誤處理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Files - 檔案部署策略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- 故障排除技巧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19125"/>
            <a:ext cx="8549640" cy="472976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Bef>
                <a:spcPts val="1876"/>
              </a:spcBef>
              <a:buNone/>
            </a:pPr>
            <a:r>
              <a:rPr lang="en-US" sz="2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Templates (Jinja2)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1000" y="1101626"/>
            <a:ext cx="83820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1000" y="1301651"/>
            <a:ext cx="4140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功能與用途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81000" y="1733401"/>
            <a:ext cx="4059734" cy="91886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使用變數動態生成配置檔案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支援條件判斷 (if/else) 與迴圈 (loops)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自動替換主機相關資訊 (Facts)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1000" y="2855416"/>
            <a:ext cx="4140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常用標籤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1000" y="3287167"/>
            <a:ext cx="4059734" cy="91886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變數: {{ var }}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控制: {% if ... %}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過濾器: var | default('val')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94634" y="1301651"/>
            <a:ext cx="4068366" cy="3107531"/>
          </a:xfrm>
          <a:prstGeom prst="roundRect">
            <a:avLst>
              <a:gd name="adj" fmla="val 3269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31110" y="1438126"/>
            <a:ext cx="38713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範例 (nginx.conf.j2)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31110" y="1869877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{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1110" y="2083296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 {{ http_port }};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1110" y="2296716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server_name {{ server_name }};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31110" y="2510135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if enable_ssl %}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31110" y="2723555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 443 ssl;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31110" y="2936974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endif %}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31110" y="3150394"/>
            <a:ext cx="3871323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19125"/>
            <a:ext cx="8549640" cy="472976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Bef>
                <a:spcPts val="1876"/>
              </a:spcBef>
              <a:buNone/>
            </a:pPr>
            <a:r>
              <a:rPr lang="en-US" sz="2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Handlers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1000" y="1101626"/>
            <a:ext cx="83820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1000" y="1555552"/>
            <a:ext cx="8382000" cy="1828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 (Definition):</a:t>
            </a:r>
            <a:pPr algn="l" indent="0" marL="0">
              <a:lnSpc>
                <a:spcPts val="28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特殊的 Task，通常用於重啟服務。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觸發條件 (Trigger):</a:t>
            </a:r>
            <a:pPr algn="l" indent="0" marL="0">
              <a:lnSpc>
                <a:spcPts val="28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只有當被通知的 Task 狀態為 "Changed" 時執行。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執行時機 (Execution):</a:t>
            </a:r>
            <a:pPr algn="l" indent="0" marL="0">
              <a:lnSpc>
                <a:spcPts val="28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預設在所有 Play 完成後執行。</a:t>
            </a:r>
            <a:endParaRPr lang="en-US" sz="2000" dirty="0"/>
          </a:p>
          <a:p>
            <a:pPr algn="l" marL="190500" indent="-1905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特性 (Feature):</a:t>
            </a:r>
            <a:pPr algn="l" indent="0" marL="0">
              <a:lnSpc>
                <a:spcPts val="28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多次通知，僅執行一次 (Idempotent)。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1000" y="3828157"/>
            <a:ext cx="8382000" cy="530126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4813" y="3828157"/>
            <a:ext cx="0" cy="530126"/>
          </a:xfrm>
          <a:prstGeom prst="line">
            <a:avLst/>
          </a:prstGeom>
          <a:noFill/>
          <a:ln w="47625">
            <a:solidFill>
              <a:srgbClr val="FFEE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5575" y="3955107"/>
            <a:ext cx="824208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564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</a:t>
            </a:r>
            <a:pPr algn="l" indent="0" marL="0">
              <a:buNone/>
            </a:pPr>
            <a:r>
              <a:rPr lang="en-US" sz="1600" dirty="0">
                <a:solidFill>
                  <a:srgbClr val="8564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使用 </a:t>
            </a:r>
            <a:pPr algn="l" indent="0" marL="0">
              <a:buNone/>
            </a:pPr>
            <a:r>
              <a:rPr lang="en-US" sz="1600" dirty="0">
                <a:solidFill>
                  <a:srgbClr val="8564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來觸發 Handler。確保名稱完全一致。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19125"/>
            <a:ext cx="8549640" cy="472976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Bef>
                <a:spcPts val="1876"/>
              </a:spcBef>
              <a:buNone/>
            </a:pPr>
            <a:r>
              <a:rPr lang="en-US" sz="2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Implementing Task Control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1000" y="1101626"/>
            <a:ext cx="83820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1000" y="1301651"/>
            <a:ext cx="4095750" cy="1523554"/>
          </a:xfrm>
          <a:prstGeom prst="roundRect">
            <a:avLst>
              <a:gd name="adj" fmla="val 4168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2925" y="1463576"/>
            <a:ext cx="38473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0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條件執行 (When)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2925" y="1946077"/>
            <a:ext cx="3847338" cy="717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根據變數或 Facts 決定是否執行任務。</a:t>
            </a:r>
            <a:endParaRPr lang="en-US" sz="1400" dirty="0"/>
          </a:p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例如: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7250" y="1301651"/>
            <a:ext cx="4095750" cy="1523554"/>
          </a:xfrm>
          <a:prstGeom prst="roundRect">
            <a:avLst>
              <a:gd name="adj" fmla="val 4168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29175" y="1463576"/>
            <a:ext cx="38473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0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迴圈 (Loops)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29175" y="1946077"/>
            <a:ext cx="3847338" cy="474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重複執行任務，處理列表或字典。</a:t>
            </a:r>
            <a:endParaRPr lang="en-US" sz="1400" dirty="0"/>
          </a:p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例如: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1000" y="3015704"/>
            <a:ext cx="4095750" cy="1280517"/>
          </a:xfrm>
          <a:prstGeom prst="roundRect">
            <a:avLst>
              <a:gd name="adj" fmla="val 4959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2925" y="3177629"/>
            <a:ext cx="38473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0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區塊 (Blocks)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2925" y="3660130"/>
            <a:ext cx="3847338" cy="474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將多個任務分組，統一處理錯誤。</a:t>
            </a:r>
            <a:endParaRPr lang="en-US" sz="1400" dirty="0"/>
          </a:p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包含: </a:t>
            </a:r>
            <a:endParaRPr lang="en-US" sz="1400" dirty="0"/>
          </a:p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7250" y="3015704"/>
            <a:ext cx="4095750" cy="1280517"/>
          </a:xfrm>
          <a:prstGeom prst="roundRect">
            <a:avLst>
              <a:gd name="adj" fmla="val 4959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29175" y="3177629"/>
            <a:ext cx="38473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0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標籤 (Tags)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29175" y="3660130"/>
            <a:ext cx="3847338" cy="474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選擇性執行部分任務。</a:t>
            </a:r>
            <a:endParaRPr lang="en-US" sz="1400" dirty="0"/>
          </a:p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指令: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780157"/>
            <a:ext cx="8290661" cy="593675"/>
          </a:xfrm>
          <a:prstGeom prst="rect">
            <a:avLst/>
          </a:prstGeom>
          <a:noFill/>
          <a:ln/>
        </p:spPr>
        <p:txBody>
          <a:bodyPr wrap="square" lIns="0" tIns="0" rIns="0" bIns="127000" rtlCol="0" anchor="t"/>
          <a:lstStyle/>
          <a:p>
            <a:pPr algn="l" indent="0" marL="0">
              <a:spcBef>
                <a:spcPts val="2144"/>
              </a:spcBef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Deploying Files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7950" y="1383357"/>
            <a:ext cx="8128099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780157"/>
            <a:ext cx="8290661" cy="593675"/>
          </a:xfrm>
          <a:prstGeom prst="rect">
            <a:avLst/>
          </a:prstGeom>
          <a:noFill/>
          <a:ln/>
        </p:spPr>
        <p:txBody>
          <a:bodyPr wrap="square" lIns="0" tIns="0" rIns="0" bIns="127000" rtlCol="0" anchor="t"/>
          <a:lstStyle/>
          <a:p>
            <a:pPr algn="l" indent="0" marL="0">
              <a:spcBef>
                <a:spcPts val="2144"/>
              </a:spcBef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Troubleshooting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7950" y="1383357"/>
            <a:ext cx="8128099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900684"/>
            <a:ext cx="8128099" cy="205963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200"/>
              </a:lnSpc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Verbose Mode: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使用 </a:t>
            </a:r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633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-v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633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-vvv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查看詳細執行過程。</a:t>
            </a:r>
            <a:endParaRPr lang="en-US" sz="2000" dirty="0"/>
          </a:p>
          <a:p>
            <a:pPr algn="l" marL="190500" indent="-190500">
              <a:lnSpc>
                <a:spcPts val="3200"/>
              </a:lnSpc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Module: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使用 </a:t>
            </a:r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633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模組印出變數值或訊息。</a:t>
            </a:r>
            <a:endParaRPr lang="en-US" sz="2000" dirty="0"/>
          </a:p>
          <a:p>
            <a:pPr algn="l" marL="190500" indent="-190500">
              <a:lnSpc>
                <a:spcPts val="3200"/>
              </a:lnSpc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Check: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633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ansible-playbook --syntax-check</a:t>
            </a:r>
            <a:endParaRPr lang="en-US" sz="2000" dirty="0"/>
          </a:p>
          <a:p>
            <a:pPr algn="l" marL="190500" indent="-190500">
              <a:lnSpc>
                <a:spcPts val="3200"/>
              </a:lnSpc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Mode (Dry Run):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633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ansible-playbook --check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模擬執行。</a:t>
            </a:r>
            <a:endParaRPr lang="en-US" sz="2000" dirty="0"/>
          </a:p>
          <a:p>
            <a:pPr algn="l" marL="190500" indent="-190500">
              <a:lnSpc>
                <a:spcPts val="3200"/>
              </a:lnSpc>
              <a:buSzPct val="100000"/>
              <a:buChar char="•"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常見錯誤: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YAML 縮排、權限不足 (become)、連線問題。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33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36628" y="1736229"/>
            <a:ext cx="1704159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16"/>
              </a:spcBef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3682157" y="3050530"/>
            <a:ext cx="1815129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800"/>
              </a:spcBef>
              <a:spcAft>
                <a:spcPts val="2800"/>
              </a:spcAft>
              <a:buNone/>
            </a:pPr>
            <a:r>
              <a:rPr lang="en-US" sz="2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Ansible Advanced Tutorial</dc:title>
  <dc:subject>PptxGenJS Presentation</dc:subject>
  <dc:creator>DevOps Team</dc:creator>
  <cp:lastModifiedBy>DevOps Team</cp:lastModifiedBy>
  <cp:revision>1</cp:revision>
  <dcterms:created xsi:type="dcterms:W3CDTF">2026-02-09T03:15:38Z</dcterms:created>
  <dcterms:modified xsi:type="dcterms:W3CDTF">2026-02-09T03:15:38Z</dcterms:modified>
</cp:coreProperties>
</file>